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0" r:id="rId5"/>
    <p:sldId id="256" r:id="rId6"/>
    <p:sldId id="257" r:id="rId7"/>
    <p:sldId id="259" r:id="rId8"/>
    <p:sldId id="261" r:id="rId9"/>
    <p:sldId id="262" r:id="rId10"/>
    <p:sldId id="263" r:id="rId11"/>
    <p:sldId id="270" r:id="rId12"/>
    <p:sldId id="271" r:id="rId13"/>
    <p:sldId id="264" r:id="rId14"/>
    <p:sldId id="265" r:id="rId15"/>
    <p:sldId id="266" r:id="rId16"/>
    <p:sldId id="269" r:id="rId17"/>
    <p:sldId id="274" r:id="rId18"/>
    <p:sldId id="275" r:id="rId19"/>
    <p:sldId id="273" r:id="rId20"/>
    <p:sldId id="267" r:id="rId21"/>
    <p:sldId id="272" r:id="rId22"/>
    <p:sldId id="276" r:id="rId23"/>
    <p:sldId id="279" r:id="rId24"/>
    <p:sldId id="281" r:id="rId25"/>
    <p:sldId id="280" r:id="rId26"/>
    <p:sldId id="277" r:id="rId27"/>
    <p:sldId id="278" r:id="rId28"/>
    <p:sldId id="282" r:id="rId29"/>
    <p:sldId id="28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476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4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633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71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7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6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06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62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430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0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21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887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33862-2DE8-40B2-B8DD-63323A4238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ScreeN</a:t>
            </a:r>
            <a:r>
              <a:rPr lang="en-US" dirty="0"/>
              <a:t> SHOT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0B0D3-4F3A-4E30-9410-4D2E3A79CB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02/17/2026</a:t>
            </a:r>
          </a:p>
        </p:txBody>
      </p:sp>
    </p:spTree>
    <p:extLst>
      <p:ext uri="{BB962C8B-B14F-4D97-AF65-F5344CB8AC3E}">
        <p14:creationId xmlns:p14="http://schemas.microsoft.com/office/powerpoint/2010/main" val="3637677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C35E4A-FC81-4ABB-B830-D2F81B9E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Review Plan – From Wireframes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53C894-C0A1-4368-8351-8D1C05F80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62667"/>
            <a:ext cx="10515600" cy="3958696"/>
          </a:xfrm>
        </p:spPr>
        <p:txBody>
          <a:bodyPr/>
          <a:lstStyle/>
          <a:p>
            <a:r>
              <a:rPr lang="en-US" sz="2000" dirty="0"/>
              <a:t>After a Rapid Development Cycle in both HTML and React we have identified the following pages: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AD6C62-AB6A-4D77-8C46-A7FFC580A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34" y="2463800"/>
            <a:ext cx="6671734" cy="41311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82D36C-C153-45BE-9208-FA6A52E2676B}"/>
              </a:ext>
            </a:extLst>
          </p:cNvPr>
          <p:cNvSpPr txBox="1"/>
          <p:nvPr/>
        </p:nvSpPr>
        <p:spPr>
          <a:xfrm>
            <a:off x="8077202" y="2514837"/>
            <a:ext cx="39285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26 Main Pages related to this application…at the present... Debating 2 more… time permitting related to </a:t>
            </a:r>
            <a:r>
              <a:rPr lang="en-US" dirty="0" err="1"/>
              <a:t>userprofiles</a:t>
            </a:r>
            <a:r>
              <a:rPr lang="en-US" dirty="0"/>
              <a:t>/</a:t>
            </a:r>
            <a:r>
              <a:rPr lang="en-US" dirty="0" err="1"/>
              <a:t>corporateprofiles</a:t>
            </a:r>
            <a:r>
              <a:rPr lang="en-US" dirty="0"/>
              <a:t> which are very difficult pages.</a:t>
            </a:r>
          </a:p>
          <a:p>
            <a:endParaRPr lang="en-US" dirty="0"/>
          </a:p>
          <a:p>
            <a:r>
              <a:rPr lang="en-US" dirty="0"/>
              <a:t>The instructor said login/logout don’t count although they are in fact very important pages for user specific information. We have net 24 now which is 5X more than required.</a:t>
            </a:r>
          </a:p>
          <a:p>
            <a:endParaRPr lang="en-US" dirty="0"/>
          </a:p>
          <a:p>
            <a:r>
              <a:rPr lang="en-US" dirty="0"/>
              <a:t>There are three more areas of corporate information in modal forms</a:t>
            </a:r>
          </a:p>
        </p:txBody>
      </p:sp>
    </p:spTree>
    <p:extLst>
      <p:ext uri="{BB962C8B-B14F-4D97-AF65-F5344CB8AC3E}">
        <p14:creationId xmlns:p14="http://schemas.microsoft.com/office/powerpoint/2010/main" val="251774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D8595-A8BE-49A9-AF90-464E4A78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Backoffice review  FOR JS/HTML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FB679-4576-4116-A7D6-B80A117A5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261" y="2084832"/>
            <a:ext cx="5901605" cy="4023360"/>
          </a:xfrm>
        </p:spPr>
        <p:txBody>
          <a:bodyPr/>
          <a:lstStyle/>
          <a:p>
            <a:r>
              <a:rPr lang="en-US" dirty="0"/>
              <a:t>api242.onrender.com -&gt; 34 Tables as of Today…. </a:t>
            </a:r>
          </a:p>
          <a:p>
            <a:pPr lvl="1"/>
            <a:r>
              <a:rPr lang="en-US" dirty="0"/>
              <a:t>Tables are variants of a schema built on C# for CSCE547. </a:t>
            </a:r>
          </a:p>
          <a:p>
            <a:pPr lvl="1"/>
            <a:r>
              <a:rPr lang="en-US" dirty="0"/>
              <a:t>Although the port is non-trivial from C# to Express.</a:t>
            </a:r>
          </a:p>
          <a:p>
            <a:pPr lvl="1"/>
            <a:r>
              <a:rPr lang="en-US" dirty="0"/>
              <a:t>We added several new tables for Customer Reviews, Products, Testimonials, and Invoicing as the previous cart was built for date specific sales types. (ticketing), and not for MRC/NRC sales.</a:t>
            </a:r>
          </a:p>
          <a:p>
            <a:pPr lvl="1"/>
            <a:r>
              <a:rPr lang="en-US" dirty="0"/>
              <a:t>We had to rebuild the cart model and that requires Invoice tables.</a:t>
            </a:r>
          </a:p>
          <a:p>
            <a:pPr lvl="1"/>
            <a:r>
              <a:rPr lang="en-US" dirty="0"/>
              <a:t>We decided to collapse user/</a:t>
            </a:r>
            <a:r>
              <a:rPr lang="en-US" dirty="0" err="1"/>
              <a:t>userprofile</a:t>
            </a:r>
            <a:r>
              <a:rPr lang="en-US" dirty="0"/>
              <a:t> and rebuild the </a:t>
            </a:r>
            <a:r>
              <a:rPr lang="en-US" dirty="0" err="1"/>
              <a:t>usermodel</a:t>
            </a:r>
            <a:r>
              <a:rPr lang="en-US" dirty="0"/>
              <a:t> from previous so this is an all new SSO.</a:t>
            </a:r>
          </a:p>
          <a:p>
            <a:pPr lvl="1"/>
            <a:r>
              <a:rPr lang="en-US" dirty="0"/>
              <a:t>We ported an encrypted auth controller from C# to Express which took more than a week.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9FCE86-6934-4640-9E16-A6C344866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150" y="2084832"/>
            <a:ext cx="4792783" cy="383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589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660A-AAD2-434A-8CBB-0046721A1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Layout of screens…..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24AC1-7E87-4E1A-BA41-E8AC7D0CC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395" y="1989667"/>
            <a:ext cx="9720073" cy="40233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(1) Header Nav &amp; Mobile Menus using Material UI in Header Spaces.</a:t>
            </a:r>
          </a:p>
          <a:p>
            <a:pPr lvl="1"/>
            <a:r>
              <a:rPr lang="en-US" dirty="0"/>
              <a:t>On Previous JSS Development Tools we added </a:t>
            </a:r>
            <a:r>
              <a:rPr lang="en-US" dirty="0" err="1"/>
              <a:t>UserProfile</a:t>
            </a:r>
            <a:r>
              <a:rPr lang="en-US" dirty="0"/>
              <a:t> Links for Account Management. </a:t>
            </a:r>
          </a:p>
          <a:p>
            <a:pPr lvl="1"/>
            <a:r>
              <a:rPr lang="en-US" dirty="0"/>
              <a:t>We are debating it for this application.</a:t>
            </a:r>
          </a:p>
          <a:p>
            <a:r>
              <a:rPr lang="en-US" dirty="0"/>
              <a:t>(2) A </a:t>
            </a:r>
            <a:r>
              <a:rPr lang="en-US" dirty="0" err="1"/>
              <a:t>Topsection</a:t>
            </a:r>
            <a:r>
              <a:rPr lang="en-US" dirty="0"/>
              <a:t> Page set up with two subsections:</a:t>
            </a:r>
          </a:p>
          <a:p>
            <a:pPr lvl="1"/>
            <a:r>
              <a:rPr lang="en-US" dirty="0"/>
              <a:t>A Data Grid (SS1)</a:t>
            </a:r>
          </a:p>
          <a:p>
            <a:pPr lvl="1"/>
            <a:r>
              <a:rPr lang="en-US" dirty="0"/>
              <a:t>A Features Bar (SS2)</a:t>
            </a:r>
          </a:p>
          <a:p>
            <a:pPr lvl="1"/>
            <a:r>
              <a:rPr lang="en-US" dirty="0"/>
              <a:t>It is possible for some screens either SS1, or SS2 might not be there.</a:t>
            </a:r>
          </a:p>
          <a:p>
            <a:r>
              <a:rPr lang="en-US" dirty="0"/>
              <a:t>(3) A Bottom Section which is designed to Fill Space in Excess of 800PX.</a:t>
            </a:r>
          </a:p>
          <a:p>
            <a:pPr lvl="1"/>
            <a:r>
              <a:rPr lang="en-US" dirty="0"/>
              <a:t>It has Quick Links, A Site Map Table, and Two Pictures in a 3 Column Layout. </a:t>
            </a:r>
          </a:p>
          <a:p>
            <a:pPr lvl="1"/>
            <a:r>
              <a:rPr lang="en-US" dirty="0"/>
              <a:t>On Mobile these are stacked to provide 1500px of fill.</a:t>
            </a:r>
          </a:p>
          <a:p>
            <a:r>
              <a:rPr lang="en-US" dirty="0"/>
              <a:t>(4) Bottom Nav &amp; Mobile Icons using Material UI in Footer Spaces.</a:t>
            </a:r>
          </a:p>
        </p:txBody>
      </p:sp>
    </p:spTree>
    <p:extLst>
      <p:ext uri="{BB962C8B-B14F-4D97-AF65-F5344CB8AC3E}">
        <p14:creationId xmlns:p14="http://schemas.microsoft.com/office/powerpoint/2010/main" val="3529117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CBA7-64EB-4094-BA37-80296AD4E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REACT AND HTML TARGETS VIRTUALLY THE SAME</a:t>
            </a:r>
            <a:br>
              <a:rPr lang="en-US" dirty="0"/>
            </a:br>
            <a:r>
              <a:rPr lang="en-US" dirty="0"/>
              <a:t>And Migrating to common form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0DD88A-878E-4634-8BD4-8FE9E0FD9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2482766"/>
            <a:ext cx="2726265" cy="2181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F71B80-57B4-4E9B-963D-041167B3D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421" y="2023533"/>
            <a:ext cx="2726265" cy="21812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68CED5-D5F4-465C-817E-47E15447C4A7}"/>
              </a:ext>
            </a:extLst>
          </p:cNvPr>
          <p:cNvSpPr txBox="1"/>
          <p:nvPr/>
        </p:nvSpPr>
        <p:spPr>
          <a:xfrm>
            <a:off x="457200" y="4877966"/>
            <a:ext cx="2878666" cy="64633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React Legacy EU Model</a:t>
            </a:r>
          </a:p>
          <a:p>
            <a:pPr algn="ctr"/>
            <a:r>
              <a:rPr lang="en-US" sz="900" dirty="0"/>
              <a:t>(</a:t>
            </a:r>
            <a:r>
              <a:rPr lang="en-US" sz="900" dirty="0" err="1"/>
              <a:t>Valefar</a:t>
            </a:r>
            <a:r>
              <a:rPr lang="en-US" sz="900" dirty="0"/>
              <a:t>/CG </a:t>
            </a:r>
            <a:r>
              <a:rPr lang="en-US" sz="900" dirty="0" err="1"/>
              <a:t>UserStories</a:t>
            </a:r>
            <a:r>
              <a:rPr lang="en-US" sz="900" dirty="0"/>
              <a:t> &amp; Design)</a:t>
            </a:r>
          </a:p>
          <a:p>
            <a:pPr algn="ctr"/>
            <a:r>
              <a:rPr lang="en-US" sz="900" dirty="0"/>
              <a:t>Gen0</a:t>
            </a:r>
          </a:p>
          <a:p>
            <a:pPr algn="ctr"/>
            <a:endParaRPr lang="en-US" sz="9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610A91-A870-489A-ABE1-B9656F26BB5B}"/>
              </a:ext>
            </a:extLst>
          </p:cNvPr>
          <p:cNvCxnSpPr/>
          <p:nvPr/>
        </p:nvCxnSpPr>
        <p:spPr>
          <a:xfrm flipH="1">
            <a:off x="3335866" y="2184400"/>
            <a:ext cx="347134" cy="298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75209FF-03B3-4384-BC64-F2414A7CFB69}"/>
              </a:ext>
            </a:extLst>
          </p:cNvPr>
          <p:cNvSpPr txBox="1"/>
          <p:nvPr/>
        </p:nvSpPr>
        <p:spPr>
          <a:xfrm>
            <a:off x="3683000" y="2023533"/>
            <a:ext cx="931333" cy="2308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 err="1"/>
              <a:t>TopNav</a:t>
            </a:r>
            <a:endParaRPr lang="en-US" sz="9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C164D1E-953E-4BC7-AC03-62DD2C107C7D}"/>
              </a:ext>
            </a:extLst>
          </p:cNvPr>
          <p:cNvCxnSpPr>
            <a:cxnSpLocks/>
          </p:cNvCxnSpPr>
          <p:nvPr/>
        </p:nvCxnSpPr>
        <p:spPr>
          <a:xfrm flipH="1">
            <a:off x="3471333" y="4608945"/>
            <a:ext cx="703503" cy="55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630EC74-E1CE-46FC-865F-D4F97AA7BE63}"/>
              </a:ext>
            </a:extLst>
          </p:cNvPr>
          <p:cNvSpPr txBox="1"/>
          <p:nvPr/>
        </p:nvSpPr>
        <p:spPr>
          <a:xfrm>
            <a:off x="4284133" y="4465136"/>
            <a:ext cx="721975" cy="2308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 err="1"/>
              <a:t>FooterNav</a:t>
            </a:r>
            <a:endParaRPr lang="en-US" sz="9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010B7B-F1FC-43A8-B840-41F146BF0934}"/>
              </a:ext>
            </a:extLst>
          </p:cNvPr>
          <p:cNvCxnSpPr>
            <a:cxnSpLocks/>
          </p:cNvCxnSpPr>
          <p:nvPr/>
        </p:nvCxnSpPr>
        <p:spPr>
          <a:xfrm flipH="1">
            <a:off x="3090333" y="3967018"/>
            <a:ext cx="742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F3BC953-E62D-4602-8514-EFA26C902862}"/>
              </a:ext>
            </a:extLst>
          </p:cNvPr>
          <p:cNvSpPr txBox="1"/>
          <p:nvPr/>
        </p:nvSpPr>
        <p:spPr>
          <a:xfrm>
            <a:off x="3822617" y="3807404"/>
            <a:ext cx="1405465" cy="2308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/>
              <a:t>Main Panel with Data…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4A68BC-33E5-4186-A50E-C20C61726E9F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2980267" y="3139842"/>
            <a:ext cx="766232" cy="85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59E32AE-5712-449E-9B19-859FAA5C28B3}"/>
              </a:ext>
            </a:extLst>
          </p:cNvPr>
          <p:cNvSpPr txBox="1"/>
          <p:nvPr/>
        </p:nvSpPr>
        <p:spPr>
          <a:xfrm>
            <a:off x="3746499" y="3024426"/>
            <a:ext cx="1177034" cy="2308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/>
              <a:t>Center Nav/Filtering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6B87C6-A0F3-40DE-B748-B221BBB820CA}"/>
              </a:ext>
            </a:extLst>
          </p:cNvPr>
          <p:cNvSpPr txBox="1"/>
          <p:nvPr/>
        </p:nvSpPr>
        <p:spPr>
          <a:xfrm>
            <a:off x="5889421" y="4233152"/>
            <a:ext cx="2726265" cy="4308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HTML Target Gen2 – Looks Beautiful But Missing Material UI Icons Top &amp; Bottom.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2B0BF04-25A0-4084-998F-F2997D930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4650" y="4825392"/>
            <a:ext cx="2798619" cy="139781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4A04656-697D-4AD1-8945-9AEFC3AA2166}"/>
              </a:ext>
            </a:extLst>
          </p:cNvPr>
          <p:cNvSpPr txBox="1"/>
          <p:nvPr/>
        </p:nvSpPr>
        <p:spPr>
          <a:xfrm>
            <a:off x="4065906" y="6353919"/>
            <a:ext cx="2956106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Gen1 – Reverse Engineered UI from JSON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531191-9298-4D73-AA49-767EFE43CAD0}"/>
              </a:ext>
            </a:extLst>
          </p:cNvPr>
          <p:cNvSpPr txBox="1"/>
          <p:nvPr/>
        </p:nvSpPr>
        <p:spPr>
          <a:xfrm>
            <a:off x="378090" y="5834708"/>
            <a:ext cx="346115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The AI Generated Template Built Admin Pages/Dashboards + New Cart which works.</a:t>
            </a:r>
          </a:p>
          <a:p>
            <a:r>
              <a:rPr lang="en-US" sz="1200" dirty="0"/>
              <a:t>It is not formatted to match target but the AI build identified a number of significant options like Settings.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D0EC4C4-CCF4-492A-BDF2-0D4A3DC45FA5}"/>
              </a:ext>
            </a:extLst>
          </p:cNvPr>
          <p:cNvCxnSpPr/>
          <p:nvPr/>
        </p:nvCxnSpPr>
        <p:spPr>
          <a:xfrm flipV="1">
            <a:off x="3335866" y="5763491"/>
            <a:ext cx="838970" cy="332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BF0B3B41-1696-49A1-89D8-A65B64674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248" y="3114169"/>
            <a:ext cx="3449890" cy="238617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8512DE8-B1C4-49EF-9196-B6D3AF2540FD}"/>
              </a:ext>
            </a:extLst>
          </p:cNvPr>
          <p:cNvSpPr txBox="1"/>
          <p:nvPr/>
        </p:nvSpPr>
        <p:spPr>
          <a:xfrm>
            <a:off x="8746836" y="5615709"/>
            <a:ext cx="3158837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GEN3 with Material-UI  Icons on HTML To replace top and bottom nav by text links…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548A3EB-3C12-463A-A6A2-FEC059770A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7164" y="2023533"/>
            <a:ext cx="1466965" cy="557330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87F8C01-493E-4C67-8C6B-220333BB8DA9}"/>
              </a:ext>
            </a:extLst>
          </p:cNvPr>
          <p:cNvCxnSpPr>
            <a:cxnSpLocks/>
            <a:endCxn id="43" idx="1"/>
          </p:cNvCxnSpPr>
          <p:nvPr/>
        </p:nvCxnSpPr>
        <p:spPr>
          <a:xfrm flipH="1" flipV="1">
            <a:off x="10557164" y="2302198"/>
            <a:ext cx="1043710" cy="837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16B4DB7-1D25-4856-9C1C-D9C686A66A8C}"/>
              </a:ext>
            </a:extLst>
          </p:cNvPr>
          <p:cNvCxnSpPr>
            <a:cxnSpLocks/>
            <a:endCxn id="43" idx="3"/>
          </p:cNvCxnSpPr>
          <p:nvPr/>
        </p:nvCxnSpPr>
        <p:spPr>
          <a:xfrm flipV="1">
            <a:off x="11905673" y="2302198"/>
            <a:ext cx="118456" cy="811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1262DF6-FB58-4E6E-9539-98DD41B8548A}"/>
              </a:ext>
            </a:extLst>
          </p:cNvPr>
          <p:cNvSpPr txBox="1"/>
          <p:nvPr/>
        </p:nvSpPr>
        <p:spPr>
          <a:xfrm>
            <a:off x="10400145" y="1588655"/>
            <a:ext cx="168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Blowout…</a:t>
            </a:r>
          </a:p>
        </p:txBody>
      </p:sp>
    </p:spTree>
    <p:extLst>
      <p:ext uri="{BB962C8B-B14F-4D97-AF65-F5344CB8AC3E}">
        <p14:creationId xmlns:p14="http://schemas.microsoft.com/office/powerpoint/2010/main" val="1789485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4433F-3C84-4C68-8CF2-D58AA9EB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 in 4 block format…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17739-8052-4170-A55E-1D3A39D0D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Screens(Current)</a:t>
            </a:r>
          </a:p>
          <a:p>
            <a:r>
              <a:rPr lang="en-US" dirty="0"/>
              <a:t>Before Target CSS is Universally Applied to All Tags</a:t>
            </a:r>
          </a:p>
        </p:txBody>
      </p:sp>
    </p:spTree>
    <p:extLst>
      <p:ext uri="{BB962C8B-B14F-4D97-AF65-F5344CB8AC3E}">
        <p14:creationId xmlns:p14="http://schemas.microsoft.com/office/powerpoint/2010/main" val="1591536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D2AB37-8B1C-4713-8130-6B4922A17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we show current screens…..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47C5DB-FEA6-470B-8454-F2A5B013E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trying to get Greenvilletwo.css to encompass and consolidate all CSS parameters across all 20+ pages…. Its not quite working right…. 1+ days more…to debug….</a:t>
            </a:r>
          </a:p>
          <a:p>
            <a:r>
              <a:rPr lang="en-US" dirty="0"/>
              <a:t>Current Screens do not have greenville2.css applied and were developed by Gen-</a:t>
            </a:r>
            <a:r>
              <a:rPr lang="en-US" dirty="0" err="1"/>
              <a:t>ing</a:t>
            </a:r>
            <a:r>
              <a:rPr lang="en-US" dirty="0"/>
              <a:t> the data to REST APIS using bootstrap on copilot…. In other words Copilot builds from REST entire working Grid Arrays with Update, Insert and Delete… given the right prompts/parameters.</a:t>
            </a:r>
          </a:p>
          <a:p>
            <a:r>
              <a:rPr lang="en-US" dirty="0"/>
              <a:t>Current screens are moving to a common base but we are playing with background screen colors, </a:t>
            </a:r>
            <a:r>
              <a:rPr lang="en-US" dirty="0" err="1"/>
              <a:t>etc</a:t>
            </a:r>
            <a:r>
              <a:rPr lang="en-US" dirty="0"/>
              <a:t> which we haven’t quite decided on….</a:t>
            </a:r>
          </a:p>
        </p:txBody>
      </p:sp>
    </p:spTree>
    <p:extLst>
      <p:ext uri="{BB962C8B-B14F-4D97-AF65-F5344CB8AC3E}">
        <p14:creationId xmlns:p14="http://schemas.microsoft.com/office/powerpoint/2010/main" val="4029724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9B753-47C9-4358-965A-8AD0392F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TARGET SCREEN IN 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ABB77-73CE-4F74-A390-E9D5C03C6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Top Nav (Main Button Drop), Site Name and Logo, Right Nav Icons.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MidPage</a:t>
            </a:r>
            <a:r>
              <a:rPr lang="en-US" dirty="0"/>
              <a:t> Heading and Nav (Like Homepage)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Main Data/</a:t>
            </a:r>
            <a:r>
              <a:rPr lang="en-US" dirty="0" err="1"/>
              <a:t>CenterCourt</a:t>
            </a:r>
            <a:r>
              <a:rPr lang="en-US" dirty="0"/>
              <a:t> with 2 subsections(Data/Features)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BottomFillers</a:t>
            </a:r>
            <a:r>
              <a:rPr lang="en-US" dirty="0"/>
              <a:t> (3 x Wide, 1x3 in Media Checker tested and in production)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Bottom Nav (Two Icons and Copyright is target)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NOTE ALL SCREENS HAVE THE SAME COMPONENTS IN OUR MODEL… THUS SHOWING EACH ONE ISNT REALLY NECESSARY…. IF THEY USE THE SAME CSS.</a:t>
            </a:r>
          </a:p>
        </p:txBody>
      </p:sp>
    </p:spTree>
    <p:extLst>
      <p:ext uri="{BB962C8B-B14F-4D97-AF65-F5344CB8AC3E}">
        <p14:creationId xmlns:p14="http://schemas.microsoft.com/office/powerpoint/2010/main" val="3891517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>
            <a:cxnSpLocks/>
          </p:cNvCxnSpPr>
          <p:nvPr/>
        </p:nvCxnSpPr>
        <p:spPr>
          <a:xfrm>
            <a:off x="5754255" y="129309"/>
            <a:ext cx="0" cy="55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5CFC76A-D0C5-4163-84AA-B4FD48CDE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484"/>
            <a:ext cx="12155053" cy="9716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026309-933F-4113-A32E-D97F136EACCF}"/>
              </a:ext>
            </a:extLst>
          </p:cNvPr>
          <p:cNvSpPr txBox="1"/>
          <p:nvPr/>
        </p:nvSpPr>
        <p:spPr>
          <a:xfrm>
            <a:off x="110836" y="27709"/>
            <a:ext cx="12081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SECTION ½ -&gt; CONSTRUCTING A SCREEN…. TOP SECTION FIRST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7EF2A0-EFB7-4738-97EA-134FC7D56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47" y="5328279"/>
            <a:ext cx="12192000" cy="14450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53C62E-0050-4AB2-BD93-82CB5F81F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54379"/>
            <a:ext cx="12155054" cy="12045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0CAC63-5CB8-49B8-AE9E-FDEB38F52CF1}"/>
              </a:ext>
            </a:extLst>
          </p:cNvPr>
          <p:cNvSpPr txBox="1"/>
          <p:nvPr/>
        </p:nvSpPr>
        <p:spPr>
          <a:xfrm>
            <a:off x="3934691" y="4958947"/>
            <a:ext cx="4932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SECTION 5 -&gt;STANDARD BOTTOM NAV(5)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D185C7-AB63-4884-9258-F979486D369E}"/>
              </a:ext>
            </a:extLst>
          </p:cNvPr>
          <p:cNvSpPr txBox="1"/>
          <p:nvPr/>
        </p:nvSpPr>
        <p:spPr>
          <a:xfrm>
            <a:off x="554182" y="3401399"/>
            <a:ext cx="11120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SECTION 4 -&gt; PORTIAS FLEX BOXES 3x1, and 1x3 on Media Check at 1000px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87CCB85-BF27-4DF9-A60F-CCE760578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091" y="1935884"/>
            <a:ext cx="11536217" cy="10961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D202F62-9C69-4044-A2FA-3ACA0F5FE8B7}"/>
              </a:ext>
            </a:extLst>
          </p:cNvPr>
          <p:cNvSpPr txBox="1"/>
          <p:nvPr/>
        </p:nvSpPr>
        <p:spPr>
          <a:xfrm>
            <a:off x="554182" y="1542473"/>
            <a:ext cx="10843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SECTION3 -&gt; MAIN DATA AREA (A Grid Data Area, and Feature/Idea Section)</a:t>
            </a:r>
          </a:p>
        </p:txBody>
      </p:sp>
    </p:spTree>
    <p:extLst>
      <p:ext uri="{BB962C8B-B14F-4D97-AF65-F5344CB8AC3E}">
        <p14:creationId xmlns:p14="http://schemas.microsoft.com/office/powerpoint/2010/main" val="346597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0986E01-B051-40D7-87AA-517C0D85B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55" y="424872"/>
            <a:ext cx="5402745" cy="24753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0D4E75-859D-4974-8D19-9E58DB60A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327" y="424871"/>
            <a:ext cx="6059055" cy="24753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EFBBA1-57B3-40B3-83E5-D8F57367D77A}"/>
              </a:ext>
            </a:extLst>
          </p:cNvPr>
          <p:cNvSpPr txBox="1"/>
          <p:nvPr/>
        </p:nvSpPr>
        <p:spPr>
          <a:xfrm>
            <a:off x="785091" y="4165600"/>
            <a:ext cx="292792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LOGOUT CLEARS</a:t>
            </a:r>
          </a:p>
          <a:p>
            <a:r>
              <a:rPr lang="en-US" dirty="0"/>
              <a:t>VARIOUS PARAMETERS AND REDIRECTS TO INDEX.HTML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DC02F3-8AED-44BF-8437-459673ECE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73" y="3429000"/>
            <a:ext cx="6059056" cy="31934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77FFA1-7456-4B47-A450-C80118685423}"/>
              </a:ext>
            </a:extLst>
          </p:cNvPr>
          <p:cNvSpPr txBox="1"/>
          <p:nvPr/>
        </p:nvSpPr>
        <p:spPr>
          <a:xfrm>
            <a:off x="8243455" y="2831123"/>
            <a:ext cx="139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LOGIN.HTML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AC8BD-F894-41E1-9C1E-BB937D66798B}"/>
              </a:ext>
            </a:extLst>
          </p:cNvPr>
          <p:cNvSpPr txBox="1"/>
          <p:nvPr/>
        </p:nvSpPr>
        <p:spPr>
          <a:xfrm>
            <a:off x="1847273" y="2706255"/>
            <a:ext cx="1731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INDEX.HTML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552DFF-9BE6-4F23-9E2F-5B2EA926C012}"/>
              </a:ext>
            </a:extLst>
          </p:cNvPr>
          <p:cNvSpPr txBox="1"/>
          <p:nvPr/>
        </p:nvSpPr>
        <p:spPr>
          <a:xfrm>
            <a:off x="7795494" y="6253141"/>
            <a:ext cx="191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WELCOME.HTML</a:t>
            </a:r>
          </a:p>
        </p:txBody>
      </p:sp>
    </p:spTree>
    <p:extLst>
      <p:ext uri="{BB962C8B-B14F-4D97-AF65-F5344CB8AC3E}">
        <p14:creationId xmlns:p14="http://schemas.microsoft.com/office/powerpoint/2010/main" val="956833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53C1009-AB15-4E3B-9B3A-1B82A15C9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1" y="349036"/>
            <a:ext cx="5585087" cy="2700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617E21-7C65-4A6A-BB08-1E38E0E490BF}"/>
              </a:ext>
            </a:extLst>
          </p:cNvPr>
          <p:cNvSpPr txBox="1"/>
          <p:nvPr/>
        </p:nvSpPr>
        <p:spPr>
          <a:xfrm>
            <a:off x="1093052" y="2410692"/>
            <a:ext cx="3546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Licenses6.html -&gt; Main Buy Page….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2CD321-1FE9-4A89-AEAE-87BFEE499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746" y="349035"/>
            <a:ext cx="5320145" cy="2719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835306-476A-42E8-8420-70289A7E2211}"/>
              </a:ext>
            </a:extLst>
          </p:cNvPr>
          <p:cNvSpPr txBox="1"/>
          <p:nvPr/>
        </p:nvSpPr>
        <p:spPr>
          <a:xfrm>
            <a:off x="7213600" y="2521527"/>
            <a:ext cx="3885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MyLicenseLogs.html (</a:t>
            </a:r>
            <a:r>
              <a:rPr lang="en-US" dirty="0" err="1"/>
              <a:t>UserLogs</a:t>
            </a:r>
            <a:r>
              <a:rPr lang="en-US" dirty="0"/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F3C933-1E9E-457E-8325-CC5C4A1E1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37" y="3489400"/>
            <a:ext cx="5532581" cy="23835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42FF46-7FD7-4764-A250-F3175E0789D2}"/>
              </a:ext>
            </a:extLst>
          </p:cNvPr>
          <p:cNvSpPr txBox="1"/>
          <p:nvPr/>
        </p:nvSpPr>
        <p:spPr>
          <a:xfrm>
            <a:off x="840509" y="6169891"/>
            <a:ext cx="442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MyLicenses.html(</a:t>
            </a:r>
            <a:r>
              <a:rPr lang="en-US" dirty="0" err="1"/>
              <a:t>UserLicenses</a:t>
            </a:r>
            <a:r>
              <a:rPr lang="en-US" dirty="0"/>
              <a:t>/</a:t>
            </a:r>
            <a:r>
              <a:rPr lang="en-US" dirty="0" err="1"/>
              <a:t>CorpLicenses</a:t>
            </a:r>
            <a:r>
              <a:rPr lang="en-US" dirty="0"/>
              <a:t>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CCA4B4-0E9A-4E0D-9D12-F17E2A38F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90819"/>
            <a:ext cx="5948216" cy="24882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55EEB83-AC26-4A93-862B-EBF32A0FBEDE}"/>
              </a:ext>
            </a:extLst>
          </p:cNvPr>
          <p:cNvSpPr txBox="1"/>
          <p:nvPr/>
        </p:nvSpPr>
        <p:spPr>
          <a:xfrm>
            <a:off x="7019636" y="6169891"/>
            <a:ext cx="387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MyCart</a:t>
            </a:r>
            <a:r>
              <a:rPr lang="en-US" dirty="0"/>
              <a:t>(Pending Items to Pay)….</a:t>
            </a:r>
          </a:p>
        </p:txBody>
      </p:sp>
    </p:spTree>
    <p:extLst>
      <p:ext uri="{BB962C8B-B14F-4D97-AF65-F5344CB8AC3E}">
        <p14:creationId xmlns:p14="http://schemas.microsoft.com/office/powerpoint/2010/main" val="3564406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6075724-2811-4DC9-BD36-C5C123116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00" y="253232"/>
            <a:ext cx="5515056" cy="26154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AB0037-2750-4377-BB5E-20C9B26E6165}"/>
              </a:ext>
            </a:extLst>
          </p:cNvPr>
          <p:cNvSpPr txBox="1"/>
          <p:nvPr/>
        </p:nvSpPr>
        <p:spPr>
          <a:xfrm>
            <a:off x="1625600" y="2013527"/>
            <a:ext cx="233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Reviews.html(9)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03DEF2-0040-4766-8B7A-585E08045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237" y="189634"/>
            <a:ext cx="5828145" cy="28795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35F527-C483-4934-B1D9-FB06B402AA70}"/>
              </a:ext>
            </a:extLst>
          </p:cNvPr>
          <p:cNvSpPr txBox="1"/>
          <p:nvPr/>
        </p:nvSpPr>
        <p:spPr>
          <a:xfrm>
            <a:off x="10280072" y="378752"/>
            <a:ext cx="1487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Help(10).html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FB778D-8931-405F-BC92-67BB972F3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84" y="3385821"/>
            <a:ext cx="5403272" cy="26232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314AE5-1FFD-4CE6-9F2C-1BC50606CCE6}"/>
              </a:ext>
            </a:extLst>
          </p:cNvPr>
          <p:cNvSpPr txBox="1"/>
          <p:nvPr/>
        </p:nvSpPr>
        <p:spPr>
          <a:xfrm>
            <a:off x="1422400" y="6142182"/>
            <a:ext cx="278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UserHelp.html(11)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DCE75F-1B81-4DB5-AD1A-9685993C5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874" y="3385821"/>
            <a:ext cx="5134944" cy="27513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A2D8AFA-FC41-4B0A-93C4-05AAE3CA721A}"/>
              </a:ext>
            </a:extLst>
          </p:cNvPr>
          <p:cNvSpPr txBox="1"/>
          <p:nvPr/>
        </p:nvSpPr>
        <p:spPr>
          <a:xfrm>
            <a:off x="7527636" y="6225372"/>
            <a:ext cx="3103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UserNotices.html (12)</a:t>
            </a:r>
          </a:p>
        </p:txBody>
      </p:sp>
    </p:spTree>
    <p:extLst>
      <p:ext uri="{BB962C8B-B14F-4D97-AF65-F5344CB8AC3E}">
        <p14:creationId xmlns:p14="http://schemas.microsoft.com/office/powerpoint/2010/main" val="4281308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5CAAC7E-E41F-41C5-B535-8587F0475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395472"/>
            <a:ext cx="5459518" cy="32270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3774AD-1FC9-4B38-9440-55B168DB7D2C}"/>
              </a:ext>
            </a:extLst>
          </p:cNvPr>
          <p:cNvSpPr txBox="1"/>
          <p:nvPr/>
        </p:nvSpPr>
        <p:spPr>
          <a:xfrm>
            <a:off x="7269018" y="4812145"/>
            <a:ext cx="2974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PRODUCTS.HTML(ADMIN)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C2D975-C4AF-4C15-A718-9830A0999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83" y="3395472"/>
            <a:ext cx="5096028" cy="32860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A11D6D-6915-4519-BABE-EDDAFD67061D}"/>
              </a:ext>
            </a:extLst>
          </p:cNvPr>
          <p:cNvSpPr txBox="1"/>
          <p:nvPr/>
        </p:nvSpPr>
        <p:spPr>
          <a:xfrm>
            <a:off x="1034473" y="5292436"/>
            <a:ext cx="3491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TESTIMONIALS.HTML(ADMIN)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156F4B-6B8A-4925-9A97-84FEB0309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70" y="129309"/>
            <a:ext cx="5337364" cy="28104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911979-42FA-4AA3-A9F2-69D69339BDBC}"/>
              </a:ext>
            </a:extLst>
          </p:cNvPr>
          <p:cNvSpPr txBox="1"/>
          <p:nvPr/>
        </p:nvSpPr>
        <p:spPr>
          <a:xfrm>
            <a:off x="1413164" y="1717964"/>
            <a:ext cx="311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LICENSETYPES.HTML(ADMIN)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3E40A-C74C-47D2-BF6A-B9D91EA73237}"/>
              </a:ext>
            </a:extLst>
          </p:cNvPr>
          <p:cNvSpPr txBox="1"/>
          <p:nvPr/>
        </p:nvSpPr>
        <p:spPr>
          <a:xfrm>
            <a:off x="6308436" y="1525314"/>
            <a:ext cx="4956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ADMIN PAGES</a:t>
            </a:r>
          </a:p>
        </p:txBody>
      </p:sp>
    </p:spTree>
    <p:extLst>
      <p:ext uri="{BB962C8B-B14F-4D97-AF65-F5344CB8AC3E}">
        <p14:creationId xmlns:p14="http://schemas.microsoft.com/office/powerpoint/2010/main" val="2974353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07735-EF3F-4357-B6FF-CE5EEB08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SHOPIFY FIGMA PLUGIN vs FUSION COMMERCE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FB785-2CB1-4FD9-921C-13C2E2704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Figma Designer has </a:t>
            </a:r>
            <a:r>
              <a:rPr lang="en-US" dirty="0" err="1"/>
              <a:t>shopify</a:t>
            </a:r>
            <a:r>
              <a:rPr lang="en-US" dirty="0"/>
              <a:t> plugins working…..</a:t>
            </a:r>
          </a:p>
          <a:p>
            <a:r>
              <a:rPr lang="en-US" dirty="0"/>
              <a:t>This eliminates the need for </a:t>
            </a:r>
            <a:r>
              <a:rPr lang="en-US" dirty="0" err="1"/>
              <a:t>FusionCart</a:t>
            </a:r>
            <a:r>
              <a:rPr lang="en-US" dirty="0"/>
              <a:t> for this application.</a:t>
            </a:r>
          </a:p>
          <a:p>
            <a:r>
              <a:rPr lang="en-US" dirty="0"/>
              <a:t>Fusion Commerce is a world class ecommerce system with full payment control and supporting of any type of product (reservations/dates, </a:t>
            </a:r>
            <a:r>
              <a:rPr lang="en-US" dirty="0" err="1"/>
              <a:t>mrcs</a:t>
            </a:r>
            <a:r>
              <a:rPr lang="en-US" dirty="0"/>
              <a:t>, </a:t>
            </a:r>
            <a:r>
              <a:rPr lang="en-US" dirty="0" err="1"/>
              <a:t>nrcs</a:t>
            </a:r>
            <a:r>
              <a:rPr lang="en-US" dirty="0"/>
              <a:t>, global, state, regional boundaries).</a:t>
            </a:r>
          </a:p>
          <a:p>
            <a:r>
              <a:rPr lang="en-US" dirty="0"/>
              <a:t>Fusion Commerce supports Batching to a 3</a:t>
            </a:r>
            <a:r>
              <a:rPr lang="en-US" baseline="30000" dirty="0"/>
              <a:t>rd</a:t>
            </a:r>
            <a:r>
              <a:rPr lang="en-US" dirty="0"/>
              <a:t> Party Accounting System -&gt; </a:t>
            </a:r>
            <a:r>
              <a:rPr lang="en-US" dirty="0" err="1"/>
              <a:t>SalesOrder</a:t>
            </a:r>
            <a:r>
              <a:rPr lang="en-US" dirty="0"/>
              <a:t> -&gt; Foreign POS Systems</a:t>
            </a:r>
          </a:p>
          <a:p>
            <a:endParaRPr lang="en-US" dirty="0"/>
          </a:p>
          <a:p>
            <a:r>
              <a:rPr lang="en-US" dirty="0"/>
              <a:t>For this class Shopify may or may not be easier… Note if we Make Park Table emulate a Product… we can keep it without modification….so this is an architectural consideration. (This is already done in react UI). In other words if we rename a park a product it works without modification.</a:t>
            </a:r>
          </a:p>
        </p:txBody>
      </p:sp>
    </p:spTree>
    <p:extLst>
      <p:ext uri="{BB962C8B-B14F-4D97-AF65-F5344CB8AC3E}">
        <p14:creationId xmlns:p14="http://schemas.microsoft.com/office/powerpoint/2010/main" val="2196773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44D66-0945-4E2C-8A6B-389A60FAE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Screens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8CBC1-5419-47C4-A4BE-2853E4C72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Figma has a </a:t>
            </a:r>
            <a:r>
              <a:rPr lang="en-US" dirty="0" err="1"/>
              <a:t>onesy</a:t>
            </a:r>
            <a:r>
              <a:rPr lang="en-US" dirty="0"/>
              <a:t>… which shows products, product reviews, and testimonials in the Main Data Area…. This should be table driven to an API… so its not a new screen it’s a recast on the home page…</a:t>
            </a:r>
          </a:p>
          <a:p>
            <a:r>
              <a:rPr lang="en-US" dirty="0"/>
              <a:t>In the end…. We envision a main sales page…. </a:t>
            </a:r>
          </a:p>
          <a:p>
            <a:pPr lvl="1"/>
            <a:r>
              <a:rPr lang="en-US" dirty="0"/>
              <a:t>And once a user logs in… its pure operational….</a:t>
            </a:r>
          </a:p>
          <a:p>
            <a:pPr lvl="1"/>
            <a:r>
              <a:rPr lang="en-US" dirty="0"/>
              <a:t>View Licenses, View </a:t>
            </a:r>
            <a:r>
              <a:rPr lang="en-US" dirty="0" err="1"/>
              <a:t>LicenseLogs</a:t>
            </a:r>
            <a:r>
              <a:rPr lang="en-US" dirty="0"/>
              <a:t>, Buy New Licenses, Upgrade Licenses…</a:t>
            </a:r>
          </a:p>
          <a:p>
            <a:pPr lvl="1"/>
            <a:r>
              <a:rPr lang="en-US" dirty="0"/>
              <a:t>To Upgrade a License… each product has to have an upgrade path(SKU), and price for the upgrade SKU…. In place… this needs to be table driven.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934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A714-ECDF-44A6-9EDF-0A75EF0F46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CART PAGES UNDER CONSTRUCTION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61185-75F9-4301-8345-C4824A3CB2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2/17/2029</a:t>
            </a:r>
          </a:p>
        </p:txBody>
      </p:sp>
    </p:spTree>
    <p:extLst>
      <p:ext uri="{BB962C8B-B14F-4D97-AF65-F5344CB8AC3E}">
        <p14:creationId xmlns:p14="http://schemas.microsoft.com/office/powerpoint/2010/main" val="4118051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0E88ACC-682F-4C3B-B32E-C5F89DB94D7B}"/>
              </a:ext>
            </a:extLst>
          </p:cNvPr>
          <p:cNvSpPr txBox="1"/>
          <p:nvPr/>
        </p:nvSpPr>
        <p:spPr>
          <a:xfrm>
            <a:off x="147782" y="304800"/>
            <a:ext cx="12044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 Pages… have not been yet ported from G/A 547Bikes.info yet… but are numerous…. Target to match G/A corporate colors, and MRC/NRC driven products which already exist in pricing tables… Bikes sells tickets, and MRC/NRC Items today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25CF11-FD5C-4AD1-9A85-F0FB423E3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23" y="1071417"/>
            <a:ext cx="3870532" cy="20620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4333C-5A1A-4459-BE06-BF2F439F8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691" y="1071416"/>
            <a:ext cx="5283198" cy="21301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EE9C9B-CC83-41B2-A693-392280B2A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0" y="3435586"/>
            <a:ext cx="5214734" cy="28382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C3722E-701E-459B-8072-9CFA30DAC1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1346" y="3588326"/>
            <a:ext cx="5218542" cy="26000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010E93-63BA-4E25-8422-622B891E8B1E}"/>
              </a:ext>
            </a:extLst>
          </p:cNvPr>
          <p:cNvSpPr txBox="1"/>
          <p:nvPr/>
        </p:nvSpPr>
        <p:spPr>
          <a:xfrm>
            <a:off x="1320800" y="4793673"/>
            <a:ext cx="327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Payments8.html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96F120-DF1C-4F7D-9EE0-A2E399D753CA}"/>
              </a:ext>
            </a:extLst>
          </p:cNvPr>
          <p:cNvSpPr txBox="1"/>
          <p:nvPr/>
        </p:nvSpPr>
        <p:spPr>
          <a:xfrm>
            <a:off x="7259782" y="2410691"/>
            <a:ext cx="3463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Cart5.html…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9B2F06-3799-4AC6-8C4D-FAB0AE3D7AA8}"/>
              </a:ext>
            </a:extLst>
          </p:cNvPr>
          <p:cNvSpPr txBox="1"/>
          <p:nvPr/>
        </p:nvSpPr>
        <p:spPr>
          <a:xfrm>
            <a:off x="7342908" y="5163005"/>
            <a:ext cx="382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Paynow2.html before payment….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AFB5A4-6B6E-43F4-8CC6-623F5FBD94A4}"/>
              </a:ext>
            </a:extLst>
          </p:cNvPr>
          <p:cNvSpPr txBox="1"/>
          <p:nvPr/>
        </p:nvSpPr>
        <p:spPr>
          <a:xfrm>
            <a:off x="4165600" y="2041236"/>
            <a:ext cx="1588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Book555.html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DE0781-1DC4-46CB-9AA0-F32DC967C313}"/>
              </a:ext>
            </a:extLst>
          </p:cNvPr>
          <p:cNvSpPr txBox="1"/>
          <p:nvPr/>
        </p:nvSpPr>
        <p:spPr>
          <a:xfrm>
            <a:off x="886691" y="6308498"/>
            <a:ext cx="109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more than 5 admin pages for Cart Dashboard Data… And Reservation/Invoice Management.</a:t>
            </a:r>
          </a:p>
        </p:txBody>
      </p:sp>
    </p:spTree>
    <p:extLst>
      <p:ext uri="{BB962C8B-B14F-4D97-AF65-F5344CB8AC3E}">
        <p14:creationId xmlns:p14="http://schemas.microsoft.com/office/powerpoint/2010/main" val="1168793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0E88ACC-682F-4C3B-B32E-C5F89DB94D7B}"/>
              </a:ext>
            </a:extLst>
          </p:cNvPr>
          <p:cNvSpPr txBox="1"/>
          <p:nvPr/>
        </p:nvSpPr>
        <p:spPr>
          <a:xfrm>
            <a:off x="147782" y="304800"/>
            <a:ext cx="1204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CART Pages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5DB8C7-1940-4A84-BB39-F3774BC9F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64" y="849623"/>
            <a:ext cx="5107708" cy="20136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BC7575-003F-42E1-A8B5-050EA51406F3}"/>
              </a:ext>
            </a:extLst>
          </p:cNvPr>
          <p:cNvSpPr txBox="1"/>
          <p:nvPr/>
        </p:nvSpPr>
        <p:spPr>
          <a:xfrm>
            <a:off x="1034473" y="2632364"/>
            <a:ext cx="30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Paynow2.html -&gt; After Payment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F62DAB-929B-436C-A2F7-6526736D6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639" y="188622"/>
            <a:ext cx="5255487" cy="28778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4FAE16-FB44-4A03-904B-FC914E3CE830}"/>
              </a:ext>
            </a:extLst>
          </p:cNvPr>
          <p:cNvSpPr txBox="1"/>
          <p:nvPr/>
        </p:nvSpPr>
        <p:spPr>
          <a:xfrm>
            <a:off x="6899563" y="2632364"/>
            <a:ext cx="4608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Cartdetail.html shows a single transaction.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44DB24-FB67-4EB0-9BBF-743E7865C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63" y="3408097"/>
            <a:ext cx="5104253" cy="26002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F9BEDE3-27B6-409F-93AD-75A3AF89B62C}"/>
              </a:ext>
            </a:extLst>
          </p:cNvPr>
          <p:cNvSpPr txBox="1"/>
          <p:nvPr/>
        </p:nvSpPr>
        <p:spPr>
          <a:xfrm>
            <a:off x="397163" y="6008377"/>
            <a:ext cx="48121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MyReservations</a:t>
            </a:r>
            <a:r>
              <a:rPr lang="en-US" dirty="0"/>
              <a:t> is a very </a:t>
            </a:r>
            <a:r>
              <a:rPr lang="en-US" dirty="0" err="1"/>
              <a:t>very</a:t>
            </a:r>
            <a:r>
              <a:rPr lang="en-US" dirty="0"/>
              <a:t> complicated page… with option to cancel pending reservations.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42CD378-03E2-4517-A4F5-7CB13F983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639" y="3334449"/>
            <a:ext cx="5754254" cy="279849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08CE96D-1926-4980-8C00-106D6534113E}"/>
              </a:ext>
            </a:extLst>
          </p:cNvPr>
          <p:cNvSpPr txBox="1"/>
          <p:nvPr/>
        </p:nvSpPr>
        <p:spPr>
          <a:xfrm>
            <a:off x="6299202" y="6077525"/>
            <a:ext cx="5514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CartCancel</a:t>
            </a:r>
            <a:r>
              <a:rPr lang="en-US" dirty="0"/>
              <a:t> -&gt; Cancels a Reservation and Reverses Charges to a Credit Card…</a:t>
            </a:r>
          </a:p>
        </p:txBody>
      </p:sp>
    </p:spTree>
    <p:extLst>
      <p:ext uri="{BB962C8B-B14F-4D97-AF65-F5344CB8AC3E}">
        <p14:creationId xmlns:p14="http://schemas.microsoft.com/office/powerpoint/2010/main" val="1875988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F0BC4-AB09-46EE-8393-0E81B8205E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MODIFICATIONS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3AD2C-AEA1-4AD2-A612-D16AB8B775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2/22/2026</a:t>
            </a:r>
          </a:p>
        </p:txBody>
      </p:sp>
    </p:spTree>
    <p:extLst>
      <p:ext uri="{BB962C8B-B14F-4D97-AF65-F5344CB8AC3E}">
        <p14:creationId xmlns:p14="http://schemas.microsoft.com/office/powerpoint/2010/main" val="2896559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12AF6-DE75-442E-8B88-D0C95B0D8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E4AF5-908F-461A-9A9D-9B1E88E1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modified the entire cart to working with the MongoDB back-end rather than the parks </a:t>
            </a:r>
            <a:r>
              <a:rPr lang="en-US" dirty="0" err="1"/>
              <a:t>api</a:t>
            </a:r>
            <a:r>
              <a:rPr lang="en-US" dirty="0"/>
              <a:t>… this was a major work effort… furthermore the Parks API had lots of intermediate endpoints and services which took MONTHS to build…</a:t>
            </a:r>
          </a:p>
          <a:p>
            <a:r>
              <a:rPr lang="en-US" dirty="0"/>
              <a:t>We are about 65% interoperable at this point… Reads Work, but Updates, and Posts are spotty due to referential </a:t>
            </a:r>
            <a:r>
              <a:rPr lang="en-US" dirty="0" err="1"/>
              <a:t>integretity</a:t>
            </a:r>
            <a:r>
              <a:rPr lang="en-US" dirty="0"/>
              <a:t> on key fields.</a:t>
            </a:r>
          </a:p>
          <a:p>
            <a:r>
              <a:rPr lang="en-US" dirty="0"/>
              <a:t>We rebuilt the home page, </a:t>
            </a:r>
            <a:r>
              <a:rPr lang="en-US" b="1" i="1" dirty="0"/>
              <a:t>and moved pricing and deployment </a:t>
            </a:r>
            <a:r>
              <a:rPr lang="en-US" dirty="0"/>
              <a:t>details to separate pages. We built a sales wizard page that calculates a price after asking some questions….</a:t>
            </a:r>
          </a:p>
          <a:p>
            <a:r>
              <a:rPr lang="en-US" dirty="0"/>
              <a:t>Interior Nav is complicated and is not completely modeled.</a:t>
            </a:r>
          </a:p>
        </p:txBody>
      </p:sp>
    </p:spTree>
    <p:extLst>
      <p:ext uri="{BB962C8B-B14F-4D97-AF65-F5344CB8AC3E}">
        <p14:creationId xmlns:p14="http://schemas.microsoft.com/office/powerpoint/2010/main" val="569243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555F-3800-4021-8C44-B7FB9B68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52A81-A669-4F58-BC48-E02CED17D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Homepage unprotected from SSO Privacy…..</a:t>
            </a:r>
          </a:p>
          <a:p>
            <a:r>
              <a:rPr lang="en-US" dirty="0"/>
              <a:t>Attempting to Buy Something….. Forces login….</a:t>
            </a:r>
          </a:p>
          <a:p>
            <a:r>
              <a:rPr lang="en-US" dirty="0" err="1"/>
              <a:t>Login.Html</a:t>
            </a:r>
            <a:r>
              <a:rPr lang="en-US" dirty="0"/>
              <a:t> updates SSO data/user profile in </a:t>
            </a:r>
            <a:r>
              <a:rPr lang="en-US" dirty="0" err="1"/>
              <a:t>LocalStorage</a:t>
            </a:r>
            <a:endParaRPr lang="en-US" dirty="0"/>
          </a:p>
          <a:p>
            <a:r>
              <a:rPr lang="en-US" dirty="0"/>
              <a:t>All other ops pages PLL Protected(Page Level Locking) to </a:t>
            </a:r>
            <a:r>
              <a:rPr lang="en-US" dirty="0" err="1"/>
              <a:t>uid</a:t>
            </a:r>
            <a:r>
              <a:rPr lang="en-US" dirty="0"/>
              <a:t> in </a:t>
            </a:r>
            <a:r>
              <a:rPr lang="en-US" dirty="0" err="1"/>
              <a:t>LocalStorage</a:t>
            </a:r>
            <a:r>
              <a:rPr lang="en-US" dirty="0"/>
              <a:t>.</a:t>
            </a:r>
          </a:p>
          <a:p>
            <a:r>
              <a:rPr lang="en-US" dirty="0"/>
              <a:t>After Login -&gt; Force to </a:t>
            </a:r>
            <a:r>
              <a:rPr lang="en-US" dirty="0" err="1"/>
              <a:t>MyLicenses</a:t>
            </a:r>
            <a:r>
              <a:rPr lang="en-US" dirty="0"/>
              <a:t> -&gt; Options to Buy More/Upgrade.</a:t>
            </a:r>
          </a:p>
          <a:p>
            <a:r>
              <a:rPr lang="en-US" dirty="0"/>
              <a:t>Other Operational Items on Drop Menu.</a:t>
            </a:r>
          </a:p>
        </p:txBody>
      </p:sp>
    </p:spTree>
    <p:extLst>
      <p:ext uri="{BB962C8B-B14F-4D97-AF65-F5344CB8AC3E}">
        <p14:creationId xmlns:p14="http://schemas.microsoft.com/office/powerpoint/2010/main" val="3935729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2D50-1A22-427B-AE43-E3D9AC260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Homepage…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E6DE7D-F3B0-4665-AFE0-3A8C4DDF8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67" y="1911059"/>
            <a:ext cx="6316133" cy="3470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FAB5E9-9FD5-4CCF-98E3-523BA81C0D6F}"/>
              </a:ext>
            </a:extLst>
          </p:cNvPr>
          <p:cNvSpPr txBox="1"/>
          <p:nvPr/>
        </p:nvSpPr>
        <p:spPr>
          <a:xfrm>
            <a:off x="1024128" y="5715000"/>
            <a:ext cx="3861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(1)Consider Slide Show with Iframe….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84862A-6321-4BB4-823C-40A6DA2C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267" y="853476"/>
            <a:ext cx="4792133" cy="22343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9A07F5-A6C9-4657-8326-2E1C6BAB51E0}"/>
              </a:ext>
            </a:extLst>
          </p:cNvPr>
          <p:cNvSpPr txBox="1"/>
          <p:nvPr/>
        </p:nvSpPr>
        <p:spPr>
          <a:xfrm>
            <a:off x="7044267" y="245533"/>
            <a:ext cx="466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MIDSECTION…..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0ADC58-D204-4198-9987-A708F2560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267" y="3202487"/>
            <a:ext cx="4915247" cy="16594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7F9CF7-3705-435C-9C14-675E04E940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153" y="5035252"/>
            <a:ext cx="5135380" cy="17288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DED895-5918-4A17-A3E2-F58057CEF1E1}"/>
              </a:ext>
            </a:extLst>
          </p:cNvPr>
          <p:cNvSpPr txBox="1"/>
          <p:nvPr/>
        </p:nvSpPr>
        <p:spPr>
          <a:xfrm>
            <a:off x="8966200" y="1911059"/>
            <a:ext cx="57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2F6844-E59F-4537-A94D-509AE4C5DCD7}"/>
              </a:ext>
            </a:extLst>
          </p:cNvPr>
          <p:cNvSpPr txBox="1"/>
          <p:nvPr/>
        </p:nvSpPr>
        <p:spPr>
          <a:xfrm>
            <a:off x="9321800" y="4030133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(3)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430E97-5FD6-4966-B018-A8FD2AFDFE13}"/>
              </a:ext>
            </a:extLst>
          </p:cNvPr>
          <p:cNvSpPr txBox="1"/>
          <p:nvPr/>
        </p:nvSpPr>
        <p:spPr>
          <a:xfrm>
            <a:off x="9118600" y="5035252"/>
            <a:ext cx="66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830013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0E88ACC-682F-4C3B-B32E-C5F89DB94D7B}"/>
              </a:ext>
            </a:extLst>
          </p:cNvPr>
          <p:cNvSpPr txBox="1"/>
          <p:nvPr/>
        </p:nvSpPr>
        <p:spPr>
          <a:xfrm>
            <a:off x="147782" y="304800"/>
            <a:ext cx="1204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 Pages… Have been ported in Part to ./</a:t>
            </a:r>
            <a:r>
              <a:rPr lang="en-US" dirty="0" err="1"/>
              <a:t>fusioncommerce</a:t>
            </a:r>
            <a:r>
              <a:rPr lang="en-US" dirty="0"/>
              <a:t>… to the same </a:t>
            </a:r>
            <a:r>
              <a:rPr lang="en-US" dirty="0" err="1"/>
              <a:t>UserFlows</a:t>
            </a:r>
            <a:r>
              <a:rPr lang="en-US" dirty="0"/>
              <a:t> we think were accurate…but with a twist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010E93-63BA-4E25-8422-622B891E8B1E}"/>
              </a:ext>
            </a:extLst>
          </p:cNvPr>
          <p:cNvSpPr txBox="1"/>
          <p:nvPr/>
        </p:nvSpPr>
        <p:spPr>
          <a:xfrm>
            <a:off x="3408218" y="5053307"/>
            <a:ext cx="20689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Payments8.html is now working more or less the same…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96F120-DF1C-4F7D-9EE0-A2E399D753CA}"/>
              </a:ext>
            </a:extLst>
          </p:cNvPr>
          <p:cNvSpPr txBox="1"/>
          <p:nvPr/>
        </p:nvSpPr>
        <p:spPr>
          <a:xfrm>
            <a:off x="10390142" y="1150097"/>
            <a:ext cx="18018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Book555.html</a:t>
            </a:r>
          </a:p>
          <a:p>
            <a:r>
              <a:rPr lang="en-US" dirty="0"/>
              <a:t>Has been replaced with</a:t>
            </a:r>
          </a:p>
          <a:p>
            <a:r>
              <a:rPr lang="en-US" dirty="0"/>
              <a:t>Purchase555.html</a:t>
            </a:r>
          </a:p>
          <a:p>
            <a:r>
              <a:rPr lang="en-US" dirty="0"/>
              <a:t>Which works similarly…except now showing </a:t>
            </a:r>
            <a:r>
              <a:rPr lang="en-US" dirty="0" err="1"/>
              <a:t>corp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9B2F06-3799-4AC6-8C4D-FAB0AE3D7AA8}"/>
              </a:ext>
            </a:extLst>
          </p:cNvPr>
          <p:cNvSpPr txBox="1"/>
          <p:nvPr/>
        </p:nvSpPr>
        <p:spPr>
          <a:xfrm>
            <a:off x="6858002" y="5850914"/>
            <a:ext cx="4868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Paynow2.html before payment…. Is Unchanged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AFB5A4-6B6E-43F4-8CC6-623F5FBD94A4}"/>
              </a:ext>
            </a:extLst>
          </p:cNvPr>
          <p:cNvSpPr txBox="1"/>
          <p:nvPr/>
        </p:nvSpPr>
        <p:spPr>
          <a:xfrm>
            <a:off x="4165600" y="2041236"/>
            <a:ext cx="1801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Licenses6.html</a:t>
            </a:r>
          </a:p>
          <a:p>
            <a:r>
              <a:rPr lang="en-US" dirty="0"/>
              <a:t>Has Replaced</a:t>
            </a:r>
          </a:p>
          <a:p>
            <a:r>
              <a:rPr lang="en-US" dirty="0"/>
              <a:t>Parks5.html &amp; </a:t>
            </a:r>
          </a:p>
          <a:p>
            <a:r>
              <a:rPr lang="en-US" dirty="0"/>
              <a:t>Is Finished.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DE0781-1DC4-46CB-9AA0-F32DC967C313}"/>
              </a:ext>
            </a:extLst>
          </p:cNvPr>
          <p:cNvSpPr txBox="1"/>
          <p:nvPr/>
        </p:nvSpPr>
        <p:spPr>
          <a:xfrm>
            <a:off x="886691" y="6308498"/>
            <a:ext cx="109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more than 5 admin pages for Cart Dashboard Data… And Reservation/Invoice Management.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44A8ED-3BE2-4F48-A5EE-B6915824B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09" y="899234"/>
            <a:ext cx="3903590" cy="20338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250A6F-6AEA-4298-84D6-7DBC8762B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37545"/>
            <a:ext cx="4264123" cy="2227021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99E177-E193-40F1-A476-61E25E4DBB10}"/>
              </a:ext>
            </a:extLst>
          </p:cNvPr>
          <p:cNvCxnSpPr/>
          <p:nvPr/>
        </p:nvCxnSpPr>
        <p:spPr>
          <a:xfrm flipH="1" flipV="1">
            <a:off x="7112000" y="1303867"/>
            <a:ext cx="3454400" cy="1430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4D6ED34-1EB1-4721-BA83-EAC21A7A8B59}"/>
              </a:ext>
            </a:extLst>
          </p:cNvPr>
          <p:cNvSpPr txBox="1"/>
          <p:nvPr/>
        </p:nvSpPr>
        <p:spPr>
          <a:xfrm>
            <a:off x="4062846" y="7583"/>
            <a:ext cx="3936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 GREEN SHOWING 2</a:t>
            </a:r>
            <a:r>
              <a:rPr lang="en-US" baseline="30000" dirty="0"/>
              <a:t>ND</a:t>
            </a:r>
            <a:r>
              <a:rPr lang="en-US" dirty="0"/>
              <a:t> DRAFT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F0B83F4-9E07-4929-AFDD-C3D47CAF4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783" y="3375892"/>
            <a:ext cx="3052618" cy="132894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71CA054-3E51-4EE3-9BB5-698CEC501017}"/>
              </a:ext>
            </a:extLst>
          </p:cNvPr>
          <p:cNvSpPr txBox="1"/>
          <p:nvPr/>
        </p:nvSpPr>
        <p:spPr>
          <a:xfrm>
            <a:off x="3477491" y="3613451"/>
            <a:ext cx="1921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CartReview.html Is Unchanged And Works just as well..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6F5B58D-477C-43B7-8DAA-B5FEAB4BAC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08" y="4744477"/>
            <a:ext cx="3200401" cy="160694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1B67162-7885-4035-A85F-34308F3A9A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5924" y="3440531"/>
            <a:ext cx="5967458" cy="239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66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0E88ACC-682F-4C3B-B32E-C5F89DB94D7B}"/>
              </a:ext>
            </a:extLst>
          </p:cNvPr>
          <p:cNvSpPr txBox="1"/>
          <p:nvPr/>
        </p:nvSpPr>
        <p:spPr>
          <a:xfrm>
            <a:off x="147782" y="304800"/>
            <a:ext cx="1204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CART Pages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BC7575-003F-42E1-A8B5-050EA51406F3}"/>
              </a:ext>
            </a:extLst>
          </p:cNvPr>
          <p:cNvSpPr txBox="1"/>
          <p:nvPr/>
        </p:nvSpPr>
        <p:spPr>
          <a:xfrm>
            <a:off x="397163" y="2632364"/>
            <a:ext cx="5216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Paynow2.html -&gt; After Payment – Different </a:t>
            </a:r>
            <a:r>
              <a:rPr lang="en-US" dirty="0" err="1"/>
              <a:t>BackEnd</a:t>
            </a:r>
            <a:r>
              <a:rPr lang="en-US" dirty="0"/>
              <a:t> – Working Partially.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4FAE16-FB44-4A03-904B-FC914E3CE830}"/>
              </a:ext>
            </a:extLst>
          </p:cNvPr>
          <p:cNvSpPr txBox="1"/>
          <p:nvPr/>
        </p:nvSpPr>
        <p:spPr>
          <a:xfrm>
            <a:off x="6934011" y="2575286"/>
            <a:ext cx="4608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Cartdetail.html shows a single transaction. Unchanged.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9BEDE3-27B6-409F-93AD-75A3AF89B62C}"/>
              </a:ext>
            </a:extLst>
          </p:cNvPr>
          <p:cNvSpPr txBox="1"/>
          <p:nvPr/>
        </p:nvSpPr>
        <p:spPr>
          <a:xfrm>
            <a:off x="397163" y="6008377"/>
            <a:ext cx="48121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MyPurchases</a:t>
            </a:r>
            <a:r>
              <a:rPr lang="en-US" dirty="0"/>
              <a:t> has replaced </a:t>
            </a:r>
            <a:r>
              <a:rPr lang="en-US" dirty="0" err="1"/>
              <a:t>MyReservations</a:t>
            </a:r>
            <a:r>
              <a:rPr lang="en-US" dirty="0"/>
              <a:t> It works the same more or less. But now supports invoices as well as reservations(more complicated)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8CE96D-1926-4980-8C00-106D6534113E}"/>
              </a:ext>
            </a:extLst>
          </p:cNvPr>
          <p:cNvSpPr txBox="1"/>
          <p:nvPr/>
        </p:nvSpPr>
        <p:spPr>
          <a:xfrm>
            <a:off x="6299202" y="6077525"/>
            <a:ext cx="5514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CartCancel</a:t>
            </a:r>
            <a:r>
              <a:rPr lang="en-US" dirty="0"/>
              <a:t> -&gt; Cancels a Reservation and Reverses Charges to a Credit Card…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06DC8A-5F26-4480-BBB3-775496257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84" y="693046"/>
            <a:ext cx="4355797" cy="19393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8474FE-C369-4956-BC90-B3A5E4A17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64" y="3380059"/>
            <a:ext cx="4909128" cy="26583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7972E6-94B1-4486-BB75-EF4B047B0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691" y="205772"/>
            <a:ext cx="5576265" cy="23618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A40BFE-7186-481D-A625-D0BC99953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393565"/>
            <a:ext cx="5140577" cy="257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13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C51C5C-D960-42CC-ACE3-D106DFE92A2F}"/>
              </a:ext>
            </a:extLst>
          </p:cNvPr>
          <p:cNvCxnSpPr/>
          <p:nvPr/>
        </p:nvCxnSpPr>
        <p:spPr>
          <a:xfrm>
            <a:off x="5960533" y="355600"/>
            <a:ext cx="0" cy="6172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92DB0A-A045-4BD1-B590-8140F0066B56}"/>
              </a:ext>
            </a:extLst>
          </p:cNvPr>
          <p:cNvCxnSpPr/>
          <p:nvPr/>
        </p:nvCxnSpPr>
        <p:spPr>
          <a:xfrm>
            <a:off x="135467" y="3530600"/>
            <a:ext cx="11853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AED7342-CF29-41D3-A247-9270E7CFF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7" y="110067"/>
            <a:ext cx="5847906" cy="23948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51601B-3221-4523-BFB2-001E420C46DC}"/>
              </a:ext>
            </a:extLst>
          </p:cNvPr>
          <p:cNvSpPr txBox="1"/>
          <p:nvPr/>
        </p:nvSpPr>
        <p:spPr>
          <a:xfrm>
            <a:off x="660400" y="2734733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Pricing Wizard /Pricing Detail Pages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6B6B5E-74FB-4456-B863-4F40C47FD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0067"/>
            <a:ext cx="6050720" cy="23948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266499-4A12-406C-8F39-B223EAC895A3}"/>
              </a:ext>
            </a:extLst>
          </p:cNvPr>
          <p:cNvSpPr txBox="1"/>
          <p:nvPr/>
        </p:nvSpPr>
        <p:spPr>
          <a:xfrm>
            <a:off x="6350000" y="2794000"/>
            <a:ext cx="4707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License Page…. New Sales Contact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413329-1458-448D-AE10-88D8677C9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27" y="3776134"/>
            <a:ext cx="5585440" cy="24644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759E51-2531-4EB0-8F43-F7B9132DF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133" y="3734041"/>
            <a:ext cx="5926667" cy="250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617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C51C5C-D960-42CC-ACE3-D106DFE92A2F}"/>
              </a:ext>
            </a:extLst>
          </p:cNvPr>
          <p:cNvCxnSpPr/>
          <p:nvPr/>
        </p:nvCxnSpPr>
        <p:spPr>
          <a:xfrm>
            <a:off x="5960533" y="355600"/>
            <a:ext cx="0" cy="6172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92DB0A-A045-4BD1-B590-8140F0066B56}"/>
              </a:ext>
            </a:extLst>
          </p:cNvPr>
          <p:cNvCxnSpPr/>
          <p:nvPr/>
        </p:nvCxnSpPr>
        <p:spPr>
          <a:xfrm>
            <a:off x="135467" y="3530600"/>
            <a:ext cx="11853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AED7342-CF29-41D3-A247-9270E7CFF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7" y="110067"/>
            <a:ext cx="5847906" cy="23948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51601B-3221-4523-BFB2-001E420C46DC}"/>
              </a:ext>
            </a:extLst>
          </p:cNvPr>
          <p:cNvSpPr txBox="1"/>
          <p:nvPr/>
        </p:nvSpPr>
        <p:spPr>
          <a:xfrm>
            <a:off x="660400" y="2734733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Pricing Wizard /Pricing Detail Pages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6B6B5E-74FB-4456-B863-4F40C47FD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0067"/>
            <a:ext cx="6050720" cy="23948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266499-4A12-406C-8F39-B223EAC895A3}"/>
              </a:ext>
            </a:extLst>
          </p:cNvPr>
          <p:cNvSpPr txBox="1"/>
          <p:nvPr/>
        </p:nvSpPr>
        <p:spPr>
          <a:xfrm>
            <a:off x="6350000" y="2794000"/>
            <a:ext cx="4707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License Page…. New Sales Contact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413329-1458-448D-AE10-88D8677C9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27" y="3776134"/>
            <a:ext cx="5585440" cy="24644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759E51-2531-4EB0-8F43-F7B9132DF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133" y="3734041"/>
            <a:ext cx="5926667" cy="250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1428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00B47EA377D742AD885E0F788B1A50" ma:contentTypeVersion="11" ma:contentTypeDescription="Create a new document." ma:contentTypeScope="" ma:versionID="695fc8f3f8f4e6e5cf039aaeb17da11e">
  <xsd:schema xmlns:xsd="http://www.w3.org/2001/XMLSchema" xmlns:xs="http://www.w3.org/2001/XMLSchema" xmlns:p="http://schemas.microsoft.com/office/2006/metadata/properties" xmlns:ns3="2cc66ad5-fb7b-495d-b30f-85bcbad3d1ef" targetNamespace="http://schemas.microsoft.com/office/2006/metadata/properties" ma:root="true" ma:fieldsID="16a59772272769b5c0f34189ff24d975" ns3:_="">
    <xsd:import namespace="2cc66ad5-fb7b-495d-b30f-85bcbad3d1e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c66ad5-fb7b-495d-b30f-85bcbad3d1e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cc66ad5-fb7b-495d-b30f-85bcbad3d1ef" xsi:nil="true"/>
  </documentManagement>
</p:properties>
</file>

<file path=customXml/itemProps1.xml><?xml version="1.0" encoding="utf-8"?>
<ds:datastoreItem xmlns:ds="http://schemas.openxmlformats.org/officeDocument/2006/customXml" ds:itemID="{C6B68508-8140-4F76-88AF-FF92DE702A0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05C6EF-7E6E-455D-94BC-7A52236FA8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c66ad5-fb7b-495d-b30f-85bcbad3d1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D226E2-6E46-4332-A578-9206A6E29E3C}">
  <ds:schemaRefs>
    <ds:schemaRef ds:uri="2cc66ad5-fb7b-495d-b30f-85bcbad3d1ef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236</TotalTime>
  <Words>1640</Words>
  <Application>Microsoft Office PowerPoint</Application>
  <PresentationFormat>Widescreen</PresentationFormat>
  <Paragraphs>148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Tw Cen MT</vt:lpstr>
      <vt:lpstr>Tw Cen MT Condensed</vt:lpstr>
      <vt:lpstr>Wingdings 3</vt:lpstr>
      <vt:lpstr>Integral</vt:lpstr>
      <vt:lpstr>ScreeN SHOT REVIEW</vt:lpstr>
      <vt:lpstr>Code Review Plan – From Wireframes</vt:lpstr>
      <vt:lpstr>Backoffice review  FOR JS/HTML Pages</vt:lpstr>
      <vt:lpstr>General Layout of screens…..</vt:lpstr>
      <vt:lpstr>REACT AND HTML TARGETS VIRTUALLY THE SAME And Migrating to common form</vt:lpstr>
      <vt:lpstr>Screens in 4 block format…</vt:lpstr>
      <vt:lpstr>Before we show current screens…..</vt:lpstr>
      <vt:lpstr>THE TARGET SCREEN IN SECTIONS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SHOPIFY FIGMA PLUGIN vs FUSION COMMERCE</vt:lpstr>
      <vt:lpstr>Other Screens</vt:lpstr>
      <vt:lpstr>CART PAGES UNDER CONSTRUCTION</vt:lpstr>
      <vt:lpstr>PowerPoint Presentation</vt:lpstr>
      <vt:lpstr>PowerPoint Presentation</vt:lpstr>
      <vt:lpstr>MODIFICATIONS</vt:lpstr>
      <vt:lpstr>MODS</vt:lpstr>
      <vt:lpstr>USER STORY</vt:lpstr>
      <vt:lpstr>New Homepage…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Review Plan – From Wireframes</dc:title>
  <dc:creator>Stritzinger, John</dc:creator>
  <cp:lastModifiedBy>Stritzinger, John</cp:lastModifiedBy>
  <cp:revision>33</cp:revision>
  <dcterms:created xsi:type="dcterms:W3CDTF">2026-02-17T22:15:47Z</dcterms:created>
  <dcterms:modified xsi:type="dcterms:W3CDTF">2026-02-23T00:25:02Z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0x010100F300B47EA377D742AD885E0F788B1A50</vt:lpwstr>
  </property>
</Properties>
</file>